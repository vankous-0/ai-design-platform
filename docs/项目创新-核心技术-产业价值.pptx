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2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82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0.png"/><Relationship Id="rId7" Type="http://schemas.openxmlformats.org/officeDocument/2006/relationships/image" Target="../media/image9.png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73.xml"/><Relationship Id="rId23" Type="http://schemas.openxmlformats.org/officeDocument/2006/relationships/tags" Target="../tags/tag72.xml"/><Relationship Id="rId22" Type="http://schemas.openxmlformats.org/officeDocument/2006/relationships/tags" Target="../tags/tag7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image" Target="../media/image17.png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image" Target="../media/image15.png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0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9.png"/><Relationship Id="rId12" Type="http://schemas.openxmlformats.org/officeDocument/2006/relationships/image" Target="../media/image15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tGPT Image 2026年4月27日 14_12_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190" y="4046855"/>
            <a:ext cx="5210810" cy="2571750"/>
          </a:xfrm>
          <a:prstGeom prst="rect">
            <a:avLst/>
          </a:prstGeom>
        </p:spPr>
      </p:pic>
      <p:pic>
        <p:nvPicPr>
          <p:cNvPr id="2" name="图片 1" descr="ChatGPT Image 2026年4月27日 14_10_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7490"/>
            <a:ext cx="4873625" cy="2571115"/>
          </a:xfrm>
          <a:prstGeom prst="rect">
            <a:avLst/>
          </a:prstGeom>
        </p:spPr>
      </p:pic>
      <p:grpSp>
        <p:nvGrpSpPr>
          <p:cNvPr id="108" name="group 108"/>
          <p:cNvGrpSpPr/>
          <p:nvPr/>
        </p:nvGrpSpPr>
        <p:grpSpPr>
          <a:xfrm rot="21600000">
            <a:off x="3066414" y="1322958"/>
            <a:ext cx="5449570" cy="4765548"/>
            <a:chOff x="-558800" y="-14605"/>
            <a:chExt cx="5449570" cy="4765548"/>
          </a:xfrm>
        </p:grpSpPr>
        <p:pic>
          <p:nvPicPr>
            <p:cNvPr id="630" name="picture 6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-220345" y="-14605"/>
              <a:ext cx="4773168" cy="4765548"/>
            </a:xfrm>
            <a:prstGeom prst="rect">
              <a:avLst/>
            </a:prstGeom>
          </p:spPr>
        </p:pic>
        <p:sp>
          <p:nvSpPr>
            <p:cNvPr id="632" name="textbox 632"/>
            <p:cNvSpPr/>
            <p:nvPr/>
          </p:nvSpPr>
          <p:spPr>
            <a:xfrm>
              <a:off x="-558800" y="-4445"/>
              <a:ext cx="5449570" cy="4662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indent="457200" algn="l" rtl="0" eaLnBrk="0">
                <a:lnSpc>
                  <a:spcPct val="105000"/>
                </a:lnSpc>
              </a:pPr>
              <a:endParaRPr lang="zh-CN" altLang="en-US" sz="600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457200" algn="l" rtl="0" eaLnBrk="0">
                <a:lnSpc>
                  <a:spcPct val="105000"/>
                </a:lnSpc>
              </a:pPr>
              <a:r>
                <a:rPr lang="en-US" altLang="zh-CN" sz="480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chemeClr val="bg1"/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lang="en-US" altLang="zh-CN" sz="360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chemeClr val="bg1"/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lang="zh-CN" altLang="en-US" sz="350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chemeClr val="bg1"/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智绘绿境</a:t>
              </a:r>
              <a:r>
                <a:rPr lang="en-US" altLang="zh-CN" sz="350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chemeClr val="bg1"/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endParaRPr lang="en-US" altLang="zh-CN" sz="350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457200" algn="l" rtl="0" eaLnBrk="0">
                <a:lnSpc>
                  <a:spcPct val="105000"/>
                </a:lnSpc>
              </a:pPr>
              <a:r>
                <a:rPr lang="en-US" altLang="zh-CN" sz="3500" dirty="0">
                  <a:ln w="15875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	  </a:t>
              </a:r>
              <a:r>
                <a:rPr lang="zh-CN" altLang="en-US" sz="3500" dirty="0">
                  <a:ln w="15875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建筑设计全流程</a:t>
              </a:r>
              <a:endParaRPr lang="zh-CN" altLang="en-US" sz="3500" dirty="0">
                <a:ln w="15875">
                  <a:solidFill>
                    <a:schemeClr val="accent1"/>
                  </a:solidFill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457200" algn="l" rtl="0" eaLnBrk="0">
                <a:lnSpc>
                  <a:spcPct val="105000"/>
                </a:lnSpc>
              </a:pPr>
              <a:r>
                <a:rPr lang="en-US" altLang="zh-CN" sz="3500" dirty="0">
                  <a:ln w="15875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	    </a:t>
              </a:r>
              <a:r>
                <a:rPr lang="zh-CN" altLang="en-US" sz="3500" dirty="0">
                  <a:ln w="15875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辅助决策平台</a:t>
              </a:r>
              <a:endParaRPr lang="en-US" altLang="zh-CN" sz="3500" dirty="0">
                <a:ln w="15875">
                  <a:solidFill>
                    <a:schemeClr val="accent1"/>
                  </a:solidFill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457200" lvl="1" indent="457200" algn="l" rtl="0" eaLnBrk="0">
                <a:lnSpc>
                  <a:spcPct val="106000"/>
                </a:lnSpc>
              </a:pPr>
              <a:endParaRPr lang="en-US" altLang="zh-CN" sz="3500" dirty="0">
                <a:ln w="15875">
                  <a:solidFill>
                    <a:schemeClr val="accent1"/>
                  </a:solidFill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634" name="picture 6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339422"/>
            <a:ext cx="12192000" cy="518577"/>
          </a:xfrm>
          <a:prstGeom prst="rect">
            <a:avLst/>
          </a:prstGeom>
        </p:spPr>
      </p:pic>
      <p:sp>
        <p:nvSpPr>
          <p:cNvPr id="664" name="textbox 664"/>
          <p:cNvSpPr/>
          <p:nvPr/>
        </p:nvSpPr>
        <p:spPr>
          <a:xfrm>
            <a:off x="533734" y="504047"/>
            <a:ext cx="4029075" cy="487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8780" algn="l" rtl="0" eaLnBrk="0">
              <a:lnSpc>
                <a:spcPct val="87000"/>
              </a:lnSpc>
              <a:spcBef>
                <a:spcPts val="0"/>
              </a:spcBef>
              <a:tabLst>
                <a:tab pos="662305" algn="l"/>
              </a:tabLst>
            </a:pPr>
            <a:r>
              <a:rPr sz="3200" b="1" u="sng" kern="0" spc="0" dirty="0">
                <a:solidFill>
                  <a:srgbClr val="0E419C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b="1" u="sng" kern="0" spc="-20" dirty="0">
                <a:solidFill>
                  <a:srgbClr val="0E41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核心产品</a:t>
            </a:r>
            <a:r>
              <a:rPr sz="3200" b="1" kern="0" spc="10" dirty="0">
                <a:solidFill>
                  <a:srgbClr val="0E41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6" name="picture 6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147114" y="538015"/>
            <a:ext cx="1396916" cy="403207"/>
          </a:xfrm>
          <a:prstGeom prst="rect">
            <a:avLst/>
          </a:prstGeom>
        </p:spPr>
      </p:pic>
      <p:pic>
        <p:nvPicPr>
          <p:cNvPr id="668" name="picture 6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434" y="516747"/>
            <a:ext cx="386654" cy="415792"/>
          </a:xfrm>
          <a:prstGeom prst="rect">
            <a:avLst/>
          </a:prstGeom>
        </p:spPr>
      </p:pic>
      <p:grpSp>
        <p:nvGrpSpPr>
          <p:cNvPr id="114" name="group 114"/>
          <p:cNvGrpSpPr/>
          <p:nvPr/>
        </p:nvGrpSpPr>
        <p:grpSpPr>
          <a:xfrm rot="21600000">
            <a:off x="6283092" y="486329"/>
            <a:ext cx="2687578" cy="552250"/>
            <a:chOff x="0" y="0"/>
            <a:chExt cx="2687578" cy="552250"/>
          </a:xfrm>
        </p:grpSpPr>
        <p:pic>
          <p:nvPicPr>
            <p:cNvPr id="670" name="picture 67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687578" cy="552250"/>
            </a:xfrm>
            <a:prstGeom prst="rect">
              <a:avLst/>
            </a:prstGeom>
          </p:spPr>
        </p:pic>
        <p:sp>
          <p:nvSpPr>
            <p:cNvPr id="672" name="textbox 672"/>
            <p:cNvSpPr/>
            <p:nvPr/>
          </p:nvSpPr>
          <p:spPr>
            <a:xfrm>
              <a:off x="-12700" y="-12700"/>
              <a:ext cx="2713354" cy="577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7325" algn="l" rtl="0" eaLnBrk="0">
                <a:lnSpc>
                  <a:spcPct val="95000"/>
                </a:lnSpc>
                <a:spcBef>
                  <a:spcPts val="0"/>
                </a:spcBef>
              </a:pPr>
              <a:r>
                <a:rPr sz="1700" b="1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项目创新</a:t>
              </a:r>
              <a:r>
                <a:rPr sz="17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</a:t>
              </a:r>
              <a:r>
                <a:rPr sz="1700" b="1" kern="0" spc="90" dirty="0">
                  <a:solidFill>
                    <a:srgbClr val="8080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产业价值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 rot="21600000">
            <a:off x="4885399" y="508095"/>
            <a:ext cx="1310914" cy="429533"/>
            <a:chOff x="0" y="0"/>
            <a:chExt cx="1310914" cy="429533"/>
          </a:xfrm>
        </p:grpSpPr>
        <p:pic>
          <p:nvPicPr>
            <p:cNvPr id="674" name="picture 67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310914" cy="429533"/>
            </a:xfrm>
            <a:prstGeom prst="rect">
              <a:avLst/>
            </a:prstGeom>
          </p:spPr>
        </p:pic>
        <p:sp>
          <p:nvSpPr>
            <p:cNvPr id="676" name="textbox 676"/>
            <p:cNvSpPr/>
            <p:nvPr/>
          </p:nvSpPr>
          <p:spPr>
            <a:xfrm>
              <a:off x="-12700" y="-12700"/>
              <a:ext cx="1336675" cy="456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2090" algn="l" rtl="0" eaLnBrk="0">
                <a:lnSpc>
                  <a:spcPct val="87000"/>
                </a:lnSpc>
              </a:pPr>
              <a:r>
                <a:rPr sz="1700" b="1" kern="0" spc="90" dirty="0">
                  <a:solidFill>
                    <a:srgbClr val="8080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行业认知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8" name="group 118"/>
          <p:cNvGrpSpPr/>
          <p:nvPr/>
        </p:nvGrpSpPr>
        <p:grpSpPr>
          <a:xfrm rot="21600000">
            <a:off x="9061743" y="486329"/>
            <a:ext cx="1310913" cy="422491"/>
            <a:chOff x="0" y="0"/>
            <a:chExt cx="1310913" cy="422491"/>
          </a:xfrm>
        </p:grpSpPr>
        <p:pic>
          <p:nvPicPr>
            <p:cNvPr id="678" name="picture 67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310913" cy="422491"/>
            </a:xfrm>
            <a:prstGeom prst="rect">
              <a:avLst/>
            </a:prstGeom>
          </p:spPr>
        </p:pic>
        <p:sp>
          <p:nvSpPr>
            <p:cNvPr id="680" name="textbox 680"/>
            <p:cNvSpPr/>
            <p:nvPr/>
          </p:nvSpPr>
          <p:spPr>
            <a:xfrm>
              <a:off x="-12700" y="-12700"/>
              <a:ext cx="1336675" cy="449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2090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700" b="1" kern="0" spc="90" dirty="0">
                  <a:solidFill>
                    <a:srgbClr val="8080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项目团队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 rot="21600000">
            <a:off x="10451123" y="486329"/>
            <a:ext cx="1310913" cy="422491"/>
            <a:chOff x="0" y="0"/>
            <a:chExt cx="1310913" cy="422491"/>
          </a:xfrm>
        </p:grpSpPr>
        <p:pic>
          <p:nvPicPr>
            <p:cNvPr id="682" name="picture 68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1310913" cy="422491"/>
            </a:xfrm>
            <a:prstGeom prst="rect">
              <a:avLst/>
            </a:prstGeom>
          </p:spPr>
        </p:pic>
        <p:sp>
          <p:nvSpPr>
            <p:cNvPr id="684" name="textbox 684"/>
            <p:cNvSpPr/>
            <p:nvPr/>
          </p:nvSpPr>
          <p:spPr>
            <a:xfrm>
              <a:off x="-12700" y="-12700"/>
              <a:ext cx="1336675" cy="4489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2725" algn="l" rtl="0" eaLnBrk="0">
                <a:lnSpc>
                  <a:spcPct val="87000"/>
                </a:lnSpc>
                <a:spcBef>
                  <a:spcPts val="5"/>
                </a:spcBef>
              </a:pPr>
              <a:r>
                <a:rPr sz="1700" b="1" kern="0" spc="90" dirty="0">
                  <a:solidFill>
                    <a:srgbClr val="8080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个人成长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686" name="picture 6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098842" y="435584"/>
            <a:ext cx="9560147" cy="19050"/>
          </a:xfrm>
          <a:prstGeom prst="rect">
            <a:avLst/>
          </a:prstGeom>
        </p:spPr>
      </p:pic>
      <p:pic>
        <p:nvPicPr>
          <p:cNvPr id="688" name="picture 68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037075" y="772667"/>
            <a:ext cx="397764" cy="124967"/>
          </a:xfrm>
          <a:prstGeom prst="rect">
            <a:avLst/>
          </a:prstGeom>
        </p:spPr>
      </p:pic>
      <p:pic>
        <p:nvPicPr>
          <p:cNvPr id="690" name="picture 69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28269" y="379729"/>
            <a:ext cx="598906" cy="69405"/>
          </a:xfrm>
          <a:prstGeom prst="rect">
            <a:avLst/>
          </a:prstGeom>
        </p:spPr>
      </p:pic>
      <p:sp>
        <p:nvSpPr>
          <p:cNvPr id="7" name="Rounded Rectangle 132"/>
          <p:cNvSpPr/>
          <p:nvPr/>
        </p:nvSpPr>
        <p:spPr>
          <a:xfrm>
            <a:off x="530352" y="1420622"/>
            <a:ext cx="26974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30936" y="1583943"/>
            <a:ext cx="256032" cy="256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887095" y="1736090"/>
            <a:ext cx="2341245" cy="3562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60799A"/>
                </a:solidFill>
                <a:latin typeface="微软雅黑" panose="020B0503020204020204" charset="-122"/>
              </a:rPr>
              <a:t>按设计阶段拆解任务，形成可复用流程模板</a:t>
            </a:r>
            <a:endParaRPr sz="940" b="0">
              <a:solidFill>
                <a:srgbClr val="60799A"/>
              </a:solidFill>
              <a:latin typeface="微软雅黑" panose="020B050302020402020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71854" y="1462532"/>
            <a:ext cx="21945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4091"/>
                </a:solidFill>
                <a:latin typeface="微软雅黑" panose="020B0503020204020204" charset="-122"/>
              </a:rPr>
              <a:t>标准化工作流</a:t>
            </a:r>
            <a:endParaRPr sz="1400" b="1">
              <a:solidFill>
                <a:srgbClr val="004091"/>
              </a:solidFill>
              <a:latin typeface="微软雅黑" panose="020B0503020204020204" charset="-122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530352" y="2265680"/>
            <a:ext cx="26974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137"/>
          <p:cNvSpPr/>
          <p:nvPr/>
        </p:nvSpPr>
        <p:spPr>
          <a:xfrm>
            <a:off x="534162" y="3113405"/>
            <a:ext cx="26974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9" name="Rounded Rectangle 137"/>
          <p:cNvSpPr/>
          <p:nvPr/>
        </p:nvSpPr>
        <p:spPr>
          <a:xfrm>
            <a:off x="8832977" y="1420495"/>
            <a:ext cx="26974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137"/>
          <p:cNvSpPr/>
          <p:nvPr/>
        </p:nvSpPr>
        <p:spPr>
          <a:xfrm>
            <a:off x="8832977" y="2265680"/>
            <a:ext cx="26974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37"/>
          <p:cNvSpPr/>
          <p:nvPr/>
        </p:nvSpPr>
        <p:spPr>
          <a:xfrm>
            <a:off x="8832977" y="3113405"/>
            <a:ext cx="26974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0936" y="2432812"/>
            <a:ext cx="256032" cy="256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US"/>
          </a:p>
        </p:txBody>
      </p:sp>
      <p:sp>
        <p:nvSpPr>
          <p:cNvPr id="12" name="Oval 138"/>
          <p:cNvSpPr/>
          <p:nvPr/>
        </p:nvSpPr>
        <p:spPr>
          <a:xfrm>
            <a:off x="630936" y="3237992"/>
            <a:ext cx="256032" cy="256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en-US"/>
          </a:p>
        </p:txBody>
      </p:sp>
      <p:sp>
        <p:nvSpPr>
          <p:cNvPr id="13" name="Oval 138"/>
          <p:cNvSpPr/>
          <p:nvPr/>
        </p:nvSpPr>
        <p:spPr>
          <a:xfrm>
            <a:off x="9048496" y="1583817"/>
            <a:ext cx="256032" cy="256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en-US"/>
          </a:p>
        </p:txBody>
      </p:sp>
      <p:sp>
        <p:nvSpPr>
          <p:cNvPr id="14" name="Oval 138"/>
          <p:cNvSpPr/>
          <p:nvPr/>
        </p:nvSpPr>
        <p:spPr>
          <a:xfrm>
            <a:off x="9061196" y="2422652"/>
            <a:ext cx="256032" cy="256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US"/>
          </a:p>
        </p:txBody>
      </p:sp>
      <p:sp>
        <p:nvSpPr>
          <p:cNvPr id="15" name="Oval 138"/>
          <p:cNvSpPr/>
          <p:nvPr/>
        </p:nvSpPr>
        <p:spPr>
          <a:xfrm>
            <a:off x="9048496" y="3290697"/>
            <a:ext cx="256032" cy="256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">
            <a:solidFill>
              <a:srgbClr val="16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</a:t>
            </a:r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887729" y="2308225"/>
            <a:ext cx="21945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4091"/>
                </a:solidFill>
                <a:latin typeface="微软雅黑" panose="020B0503020204020204" charset="-122"/>
              </a:rPr>
              <a:t>参数化提示词库</a:t>
            </a:r>
            <a:endParaRPr sz="1400" b="1">
              <a:solidFill>
                <a:srgbClr val="00409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40"/>
          <p:cNvSpPr txBox="1"/>
          <p:nvPr/>
        </p:nvSpPr>
        <p:spPr>
          <a:xfrm>
            <a:off x="887730" y="2560320"/>
            <a:ext cx="2266950" cy="1797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>
                <a:solidFill>
                  <a:srgbClr val="60799A"/>
                </a:solidFill>
                <a:latin typeface="微软雅黑" panose="020B0503020204020204" charset="-122"/>
                <a:sym typeface="+mn-ea"/>
              </a:rPr>
              <a:t>填写项目</a:t>
            </a:r>
            <a:r>
              <a:rPr sz="940">
                <a:solidFill>
                  <a:srgbClr val="60799A"/>
                </a:solidFill>
                <a:latin typeface="微软雅黑" panose="020B0503020204020204" charset="-122"/>
                <a:sym typeface="+mn-ea"/>
              </a:rPr>
              <a:t>字段，自动生成专业提示词</a:t>
            </a:r>
            <a:endParaRPr sz="940" b="1">
              <a:solidFill>
                <a:srgbClr val="004091"/>
              </a:solidFill>
              <a:latin typeface="微软雅黑" panose="020B0503020204020204" charset="-122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24559" y="3167888"/>
            <a:ext cx="21945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4091"/>
                </a:solidFill>
                <a:latin typeface="微软雅黑" panose="020B0503020204020204" charset="-122"/>
              </a:rPr>
              <a:t>节点执行记录</a:t>
            </a:r>
            <a:endParaRPr sz="1400" b="1">
              <a:solidFill>
                <a:srgbClr val="004091"/>
              </a:solidFill>
              <a:latin typeface="微软雅黑" panose="020B0503020204020204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952499" y="3419094"/>
            <a:ext cx="2194560" cy="1797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60799A"/>
                </a:solidFill>
                <a:latin typeface="微软雅黑" panose="020B0503020204020204" charset="-122"/>
              </a:rPr>
              <a:t>记录输入输出与阶段成果，支持复盘</a:t>
            </a:r>
            <a:endParaRPr sz="940" b="0">
              <a:solidFill>
                <a:srgbClr val="60799A"/>
              </a:solidFill>
              <a:latin typeface="微软雅黑" panose="020B0503020204020204" charset="-122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9335516" y="1469517"/>
            <a:ext cx="21945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>
                <a:solidFill>
                  <a:srgbClr val="004091"/>
                </a:solidFill>
                <a:latin typeface="微软雅黑" panose="020B0503020204020204" charset="-122"/>
              </a:rPr>
              <a:t> </a:t>
            </a:r>
            <a:r>
              <a:rPr sz="1400" b="1">
                <a:solidFill>
                  <a:srgbClr val="004091"/>
                </a:solidFill>
                <a:latin typeface="微软雅黑" panose="020B0503020204020204" charset="-122"/>
              </a:rPr>
              <a:t>AI 工具测评推荐</a:t>
            </a:r>
            <a:endParaRPr sz="1400" b="1">
              <a:solidFill>
                <a:srgbClr val="004091"/>
              </a:solidFill>
              <a:latin typeface="微软雅黑" panose="020B0503020204020204" charset="-122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9368790" y="1736090"/>
            <a:ext cx="2022475" cy="1797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60799A"/>
                </a:solidFill>
                <a:latin typeface="微软雅黑" panose="020B0503020204020204" charset="-122"/>
              </a:rPr>
              <a:t>按阶段、维度和用户反馈辅助选型</a:t>
            </a:r>
            <a:endParaRPr sz="940" b="0">
              <a:solidFill>
                <a:srgbClr val="60799A"/>
              </a:solidFill>
              <a:latin typeface="微软雅黑" panose="020B050302020402020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9368536" y="2272030"/>
            <a:ext cx="21945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4091"/>
                </a:solidFill>
                <a:latin typeface="微软雅黑" panose="020B0503020204020204" charset="-122"/>
              </a:rPr>
              <a:t>案例复盘与统计</a:t>
            </a:r>
            <a:endParaRPr sz="1400" b="1">
              <a:solidFill>
                <a:srgbClr val="004091"/>
              </a:solidFill>
              <a:latin typeface="微软雅黑" panose="020B0503020204020204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9335516" y="2556891"/>
            <a:ext cx="2194560" cy="1797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60799A"/>
                </a:solidFill>
                <a:latin typeface="微软雅黑" panose="020B0503020204020204" charset="-122"/>
              </a:rPr>
              <a:t>沉淀输入输出、评分、案例和行为数据</a:t>
            </a:r>
            <a:endParaRPr sz="940" b="0">
              <a:solidFill>
                <a:srgbClr val="60799A"/>
              </a:solidFill>
              <a:latin typeface="微软雅黑" panose="020B0503020204020204" charset="-122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9409176" y="3167888"/>
            <a:ext cx="21945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4091"/>
                </a:solidFill>
                <a:latin typeface="微软雅黑" panose="020B0503020204020204" charset="-122"/>
              </a:rPr>
              <a:t>后台管理支撑</a:t>
            </a:r>
            <a:endParaRPr sz="1400" b="1">
              <a:solidFill>
                <a:srgbClr val="004091"/>
              </a:solidFill>
              <a:latin typeface="微软雅黑" panose="020B0503020204020204" charset="-122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9409176" y="3419094"/>
            <a:ext cx="2194560" cy="1797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60799A"/>
                </a:solidFill>
                <a:latin typeface="微软雅黑" panose="020B0503020204020204" charset="-122"/>
              </a:rPr>
              <a:t>支持内容维护、案例审核和数据统计</a:t>
            </a:r>
            <a:endParaRPr sz="940" b="0">
              <a:solidFill>
                <a:srgbClr val="60799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ChatGPT Image 2026年4月27日 17_24_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6" name="图片 5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655"/>
            <a:ext cx="7265670" cy="4892040"/>
          </a:xfrm>
          <a:prstGeom prst="rect">
            <a:avLst/>
          </a:prstGeom>
        </p:spPr>
      </p:pic>
      <p:pic>
        <p:nvPicPr>
          <p:cNvPr id="7" name="图片 6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5" y="4157345"/>
            <a:ext cx="4553585" cy="1784350"/>
          </a:xfrm>
          <a:prstGeom prst="rect">
            <a:avLst/>
          </a:prstGeom>
        </p:spPr>
      </p:pic>
      <p:pic>
        <p:nvPicPr>
          <p:cNvPr id="8" name="图片 7" descr="wh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" y="6263005"/>
            <a:ext cx="12189460" cy="594995"/>
          </a:xfrm>
          <a:prstGeom prst="rect">
            <a:avLst/>
          </a:prstGeom>
        </p:spPr>
      </p:pic>
      <p:sp>
        <p:nvSpPr>
          <p:cNvPr id="95" name="Shape 93"/>
          <p:cNvSpPr/>
          <p:nvPr/>
        </p:nvSpPr>
        <p:spPr>
          <a:xfrm>
            <a:off x="3175" y="5941695"/>
            <a:ext cx="12184380" cy="43053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  <p:txBody>
          <a:bodyPr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sym typeface="+mn-ea"/>
              </a:rPr>
              <a:t>      核心价值：让 AI 辅助设计从"个人经验驱动"转向"标准流程驱动"，提升流程复用性、提示词一致性和结果可追溯性。</a:t>
            </a:r>
            <a:endParaRPr lang="zh-CN" altLang="en-US"/>
          </a:p>
        </p:txBody>
      </p:sp>
      <p:sp>
        <p:nvSpPr>
          <p:cNvPr id="96" name="Shape 94"/>
          <p:cNvSpPr/>
          <p:nvPr/>
        </p:nvSpPr>
        <p:spPr>
          <a:xfrm>
            <a:off x="71120" y="5941441"/>
            <a:ext cx="347472" cy="34747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sym typeface="+mn-ea"/>
              </a:rPr>
              <a:t>◆</a:t>
            </a:r>
            <a:endParaRPr lang="en-US" altLang="en-US" sz="12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7955" y="124269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0D2B5E"/>
                </a:solidFill>
                <a:latin typeface="Calibri (正文)" charset="0"/>
                <a:ea typeface="Calibri (正文)" charset="0"/>
                <a:sym typeface="+mn-ea"/>
              </a:rPr>
              <a:t>流程编排与提示词模板引擎</a:t>
            </a:r>
            <a:endParaRPr lang="en-US" altLang="en-US" sz="3200" b="1" dirty="0">
              <a:solidFill>
                <a:srgbClr val="0D2B5E"/>
              </a:solidFill>
              <a:latin typeface="Calibri (正文)" charset="0"/>
              <a:ea typeface="Calibri (正文)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7955" y="182626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sz="1600" dirty="0">
                <a:solidFill>
                  <a:srgbClr val="5A7BA0"/>
                </a:solidFill>
                <a:latin typeface="Calibri (正文)" charset="0"/>
                <a:cs typeface="Calibri (正文)" charset="0"/>
                <a:sym typeface="+mn-ea"/>
              </a:rPr>
              <a:t>把零散 AI 工具使用，转化为可执行、可复用、可记录的设计流程</a:t>
            </a:r>
            <a:endParaRPr lang="en-US" altLang="en-US" sz="1600" dirty="0">
              <a:solidFill>
                <a:srgbClr val="5A7BA0"/>
              </a:solidFill>
              <a:latin typeface="Calibri (正文)" charset="0"/>
              <a:cs typeface="Calibri (正文)" charset="0"/>
              <a:sym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74117" y="2450592"/>
            <a:ext cx="107899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/>
          <a:p>
            <a:pPr marL="0" indent="0" algn="ctr">
              <a:buNone/>
            </a:pPr>
            <a:endParaRPr lang="zh-CN" altLang="en-US"/>
          </a:p>
        </p:txBody>
      </p:sp>
      <p:sp>
        <p:nvSpPr>
          <p:cNvPr id="12" name="Shape 15"/>
          <p:cNvSpPr/>
          <p:nvPr/>
        </p:nvSpPr>
        <p:spPr>
          <a:xfrm>
            <a:off x="1630172" y="2450592"/>
            <a:ext cx="107899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</p:sp>
      <p:sp>
        <p:nvSpPr>
          <p:cNvPr id="13" name="Shape 15"/>
          <p:cNvSpPr/>
          <p:nvPr/>
        </p:nvSpPr>
        <p:spPr>
          <a:xfrm>
            <a:off x="3086227" y="2450592"/>
            <a:ext cx="107899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 lIns="91440" tIns="457200" rIns="91440" bIns="91440"/>
          <a:p>
            <a:pPr algn="ctr">
              <a:buNone/>
            </a:pPr>
            <a:r>
              <a:rPr lang="zh-CN" altLang="en-US" sz="1100" b="1" dirty="0">
                <a:solidFill>
                  <a:srgbClr val="0D2B5E"/>
                </a:solidFill>
                <a:latin typeface="宋体" panose="02010600030101010101" pitchFamily="2" charset="-122"/>
              </a:rPr>
              <a:t>生成专业提示词</a:t>
            </a:r>
            <a:endParaRPr lang="zh-CN" altLang="en-US" sz="1100" b="1" dirty="0">
              <a:solidFill>
                <a:srgbClr val="0D2B5E"/>
              </a:solidFill>
              <a:latin typeface="宋体" panose="02010600030101010101" pitchFamily="2" charset="-122"/>
            </a:endParaRPr>
          </a:p>
          <a:p>
            <a:pPr algn="ctr">
              <a:buNone/>
            </a:pPr>
            <a:endParaRPr lang="zh-CN" sz="1000" dirty="0"/>
          </a:p>
          <a:p>
            <a:pPr algn="ctr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自动生成结构化、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  <a:p>
            <a:pPr algn="ctr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参数化提示词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Shape 15"/>
          <p:cNvSpPr/>
          <p:nvPr/>
        </p:nvSpPr>
        <p:spPr>
          <a:xfrm>
            <a:off x="4542282" y="2450592"/>
            <a:ext cx="107899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 lIns="91440" tIns="457200" rIns="91440" bIns="91440"/>
          <a:p>
            <a:pPr algn="ctr">
              <a:buNone/>
            </a:pPr>
            <a:r>
              <a:rPr lang="zh-CN" altLang="en-US" sz="1100" b="1" dirty="0">
                <a:solidFill>
                  <a:srgbClr val="0D2B5E"/>
                </a:solidFill>
                <a:latin typeface="宋体" panose="02010600030101010101" pitchFamily="2" charset="-122"/>
              </a:rPr>
              <a:t>外部 AI 工具生成</a:t>
            </a:r>
            <a:endParaRPr lang="zh-CN" altLang="en-US" sz="1100" b="1" dirty="0">
              <a:solidFill>
                <a:srgbClr val="0D2B5E"/>
              </a:solidFill>
              <a:latin typeface="宋体" panose="02010600030101010101" pitchFamily="2" charset="-122"/>
            </a:endParaRPr>
          </a:p>
          <a:p>
            <a:pPr algn="ctr">
              <a:buNone/>
            </a:pPr>
            <a:endParaRPr lang="zh-CN" sz="1000" dirty="0"/>
          </a:p>
          <a:p>
            <a:pPr algn="ctr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调用外部 AI 工具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  <a:p>
            <a:pPr algn="ctr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执行生成任务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5998337" y="2450592"/>
            <a:ext cx="107899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 lIns="91440" tIns="457200" rIns="91440" bIns="91440"/>
          <a:p>
            <a:pPr algn="ctr">
              <a:buNone/>
            </a:pPr>
            <a:r>
              <a:rPr lang="zh-CN" altLang="en-US" sz="1100" b="1" dirty="0">
                <a:solidFill>
                  <a:srgbClr val="0D2B5E"/>
                </a:solidFill>
                <a:latin typeface="宋体" panose="02010600030101010101" pitchFamily="2" charset="-122"/>
              </a:rPr>
              <a:t>回填结果与复盘沉淀</a:t>
            </a:r>
            <a:endParaRPr lang="zh-CN" altLang="en-US" sz="1100" b="1" dirty="0">
              <a:solidFill>
                <a:srgbClr val="0D2B5E"/>
              </a:solidFill>
              <a:latin typeface="宋体" panose="02010600030101010101" pitchFamily="2" charset="-122"/>
            </a:endParaRPr>
          </a:p>
          <a:p>
            <a:pPr algn="ctr">
              <a:buNone/>
            </a:pPr>
            <a:endParaRPr lang="zh-CN" sz="1000" dirty="0"/>
          </a:p>
          <a:p>
            <a:pPr algn="ctr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回填结果并记录，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  <a:p>
            <a:pPr algn="ctr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复盘沉淀到知识库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74117" y="4342765"/>
            <a:ext cx="256032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 lIns="182880" tIns="182880" rIns="182880" bIns="91440"/>
          <a:p>
            <a:pPr algn="l">
              <a:buNone/>
            </a:pPr>
            <a:r>
              <a:rPr lang="zh-CN" altLang="en-US" sz="1300" b="1" dirty="0">
                <a:solidFill>
                  <a:srgbClr val="0D2B5E"/>
                </a:solidFill>
                <a:latin typeface="宋体" panose="02010600030101010101" pitchFamily="2" charset="-122"/>
              </a:rPr>
              <a:t>工作流节点编排</a:t>
            </a:r>
            <a:endParaRPr lang="zh-CN" altLang="en-US" sz="1300" b="1" dirty="0">
              <a:solidFill>
                <a:srgbClr val="0D2B5E"/>
              </a:solidFill>
              <a:latin typeface="宋体" panose="02010600030101010101" pitchFamily="2" charset="-122"/>
            </a:endParaRPr>
          </a:p>
          <a:p>
            <a:pPr algn="l">
              <a:buNone/>
            </a:pPr>
            <a:endParaRPr lang="zh-CN" sz="1000" dirty="0"/>
          </a:p>
          <a:p>
            <a:pPr algn="l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按前期分所、概念生成、深化推敲、成果表达等阶段拆解任务，形成可复用流程模板。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Shape 49"/>
          <p:cNvSpPr/>
          <p:nvPr/>
        </p:nvSpPr>
        <p:spPr>
          <a:xfrm>
            <a:off x="3086227" y="4342130"/>
            <a:ext cx="256032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 lIns="182880" tIns="182880" rIns="182880" bIns="91440"/>
          <a:p>
            <a:pPr algn="l">
              <a:buNone/>
            </a:pPr>
            <a:r>
              <a:rPr lang="zh-CN" altLang="en-US" sz="1300" b="1" dirty="0">
                <a:solidFill>
                  <a:srgbClr val="0D2B5E"/>
                </a:solidFill>
                <a:latin typeface="宋体" panose="02010600030101010101" pitchFamily="2" charset="-122"/>
              </a:rPr>
              <a:t>参数化提示词生成</a:t>
            </a:r>
            <a:endParaRPr lang="zh-CN" altLang="en-US" sz="1300" b="1" dirty="0">
              <a:solidFill>
                <a:srgbClr val="0D2B5E"/>
              </a:solidFill>
              <a:latin typeface="宋体" panose="02010600030101010101" pitchFamily="2" charset="-122"/>
            </a:endParaRPr>
          </a:p>
          <a:p>
            <a:pPr algn="l">
              <a:buNone/>
            </a:pPr>
            <a:endParaRPr lang="zh-CN" sz="1000" dirty="0"/>
          </a:p>
          <a:p>
            <a:pPr algn="l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用户填写项目类型、场地面积、设计风格等字段，系统自动渲染结构化专业提示词。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Shape 49"/>
          <p:cNvSpPr/>
          <p:nvPr/>
        </p:nvSpPr>
        <p:spPr>
          <a:xfrm>
            <a:off x="5998337" y="4342130"/>
            <a:ext cx="256032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 lIns="182880" tIns="182880" rIns="182880" bIns="91440"/>
          <a:p>
            <a:pPr algn="l">
              <a:buNone/>
            </a:pPr>
            <a:r>
              <a:rPr lang="zh-CN" altLang="en-US" sz="1300" b="1" dirty="0">
                <a:solidFill>
                  <a:srgbClr val="0D2B5E"/>
                </a:solidFill>
                <a:latin typeface="宋体" panose="02010600030101010101" pitchFamily="2" charset="-122"/>
              </a:rPr>
              <a:t>过程记录与下一步提示</a:t>
            </a:r>
            <a:endParaRPr lang="zh-CN" altLang="en-US" sz="1300" b="1" dirty="0">
              <a:solidFill>
                <a:srgbClr val="0D2B5E"/>
              </a:solidFill>
              <a:latin typeface="宋体" panose="02010600030101010101" pitchFamily="2" charset="-122"/>
            </a:endParaRPr>
          </a:p>
          <a:p>
            <a:pPr algn="l">
              <a:buNone/>
            </a:pPr>
            <a:endParaRPr lang="zh-CN" sz="1000" dirty="0"/>
          </a:p>
          <a:p>
            <a:pPr algn="l">
              <a:buNone/>
            </a:pPr>
            <a:r>
              <a:rPr lang="zh-CN" altLang="en-US" sz="1000" dirty="0">
                <a:solidFill>
                  <a:srgbClr val="5A7BA0"/>
                </a:solidFill>
                <a:latin typeface="宋体" panose="02010600030101010101" pitchFamily="2" charset="-122"/>
              </a:rPr>
              <a:t>保存每步输入、输出和完成状态，并返回下一步建议，实现设计过程可追溯。</a:t>
            </a:r>
            <a:endParaRPr lang="zh-CN" altLang="en-US" sz="1000" dirty="0">
              <a:solidFill>
                <a:srgbClr val="5A7BA0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023110" y="2576830"/>
            <a:ext cx="292608" cy="292608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 lIns="36195" bIns="288290"/>
          <a:p>
            <a:r>
              <a:rPr lang="en-US" altLang="zh-CN">
                <a:solidFill>
                  <a:schemeClr val="bg1"/>
                </a:solidFill>
              </a:rPr>
              <a:t>2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935220" y="2576830"/>
            <a:ext cx="292608" cy="292608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 lIns="36195" tIns="0" bIns="252095"/>
          <a:p>
            <a:r>
              <a:rPr lang="en-US" altLang="zh-CN">
                <a:solidFill>
                  <a:schemeClr val="bg1"/>
                </a:solidFill>
              </a:rPr>
              <a:t>4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3" name="Shape 16"/>
          <p:cNvSpPr/>
          <p:nvPr/>
        </p:nvSpPr>
        <p:spPr>
          <a:xfrm>
            <a:off x="6391275" y="2576830"/>
            <a:ext cx="292608" cy="292608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 lIns="36195" bIns="288290"/>
          <a:p>
            <a:r>
              <a:rPr lang="en-US" altLang="zh-CN">
                <a:solidFill>
                  <a:schemeClr val="bg1"/>
                </a:solidFill>
              </a:rPr>
              <a:t>5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261745" y="2869565"/>
            <a:ext cx="368300" cy="161925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2713355" y="2869565"/>
            <a:ext cx="368300" cy="161925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4169410" y="2869565"/>
            <a:ext cx="368300" cy="161925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21"/>
          <p:cNvSpPr/>
          <p:nvPr/>
        </p:nvSpPr>
        <p:spPr>
          <a:xfrm>
            <a:off x="5625465" y="2869565"/>
            <a:ext cx="368300" cy="161925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531110" y="2476500"/>
            <a:ext cx="292608" cy="292608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 lIns="36195" tIns="0" rIns="0" bIns="252095"/>
          <a:p>
            <a:r>
              <a:rPr lang="en-US" altLang="zh-CN">
                <a:solidFill>
                  <a:schemeClr val="bg1"/>
                </a:solidFill>
              </a:rPr>
              <a:t>1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2720" y="3371850"/>
            <a:ext cx="1078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>
              <a:buNone/>
            </a:pPr>
            <a:r>
              <a:rPr lang="en-US" sz="1000" dirty="0">
                <a:solidFill>
                  <a:srgbClr val="5A7BA0"/>
                </a:solidFill>
                <a:latin typeface="微软雅黑 (正文)" charset="0"/>
                <a:ea typeface="微软雅黑 (正文)" charset="0"/>
                <a:sym typeface="+mn-ea"/>
              </a:rPr>
              <a:t>选择当前所处的</a:t>
            </a:r>
            <a:endParaRPr lang="en-US" sz="1000" dirty="0">
              <a:latin typeface="微软雅黑 (正文)" charset="0"/>
              <a:ea typeface="微软雅黑 (正文)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5A7BA0"/>
                </a:solidFill>
                <a:latin typeface="微软雅黑 (正文)" charset="0"/>
                <a:ea typeface="微软雅黑 (正文)" charset="0"/>
                <a:sym typeface="+mn-ea"/>
              </a:rPr>
              <a:t>设计阶段与目标</a:t>
            </a:r>
            <a:endParaRPr lang="en-US" altLang="en-US" sz="1000" dirty="0">
              <a:latin typeface="微软雅黑 (正文)" charset="0"/>
              <a:ea typeface="微软雅黑 (正文)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628775" y="3352800"/>
            <a:ext cx="10801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>
              <a:buNone/>
            </a:pPr>
            <a:r>
              <a:rPr lang="en-US" sz="1000" dirty="0">
                <a:solidFill>
                  <a:srgbClr val="5A7BA0"/>
                </a:solidFill>
                <a:latin typeface="微软雅黑 (正文)" charset="0"/>
                <a:ea typeface="微软雅黑 (正文)" charset="0"/>
                <a:sym typeface="+mn-ea"/>
              </a:rPr>
              <a:t>系统匹配对应的</a:t>
            </a:r>
            <a:endParaRPr lang="en-US" sz="1000" dirty="0">
              <a:latin typeface="微软雅黑 (正文)" charset="0"/>
              <a:ea typeface="微软雅黑 (正文)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5A7BA0"/>
                </a:solidFill>
                <a:latin typeface="微软雅黑 (正文)" charset="0"/>
                <a:ea typeface="微软雅黑 (正文)" charset="0"/>
                <a:sym typeface="+mn-ea"/>
              </a:rPr>
              <a:t>标准工作流节点</a:t>
            </a:r>
            <a:endParaRPr lang="en-US" altLang="en-US" sz="1000" dirty="0">
              <a:solidFill>
                <a:srgbClr val="5A7BA0"/>
              </a:solidFill>
              <a:latin typeface="微软雅黑 (正文)" charset="0"/>
              <a:ea typeface="微软雅黑 (正文)" charset="0"/>
              <a:sym typeface="+mn-ea"/>
            </a:endParaRPr>
          </a:p>
          <a:p>
            <a:pPr marL="0" indent="0" algn="ctr">
              <a:buNone/>
            </a:pPr>
            <a:endParaRPr lang="en-US" altLang="en-US" sz="1000" dirty="0">
              <a:solidFill>
                <a:srgbClr val="5A7BA0"/>
              </a:solidFill>
              <a:latin typeface="微软雅黑 (正文)" charset="0"/>
              <a:ea typeface="微软雅黑 (正文)" charset="0"/>
              <a:sym typeface="+mn-ea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479165" y="2576830"/>
            <a:ext cx="292608" cy="292608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 lIns="36195" bIns="323850"/>
          <a:p>
            <a:r>
              <a:rPr lang="en-US" altLang="zh-CN">
                <a:solidFill>
                  <a:schemeClr val="bg1"/>
                </a:solidFill>
              </a:rPr>
              <a:t>3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955" y="2869565"/>
            <a:ext cx="1149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100" b="1"/>
              <a:t> </a:t>
            </a:r>
            <a:r>
              <a:rPr lang="zh-CN" altLang="en-US" sz="1100" b="1"/>
              <a:t>选择设计</a:t>
            </a:r>
            <a:r>
              <a:rPr lang="zh-CN" altLang="en-US" sz="1100" b="1"/>
              <a:t>阶段</a:t>
            </a:r>
            <a:endParaRPr lang="zh-CN" altLang="en-US" sz="1100" b="1"/>
          </a:p>
        </p:txBody>
      </p:sp>
      <p:sp>
        <p:nvSpPr>
          <p:cNvPr id="4" name="文本框 3"/>
          <p:cNvSpPr txBox="1"/>
          <p:nvPr/>
        </p:nvSpPr>
        <p:spPr>
          <a:xfrm>
            <a:off x="1570355" y="2896235"/>
            <a:ext cx="140652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100" b="1">
                <a:sym typeface="+mn-ea"/>
              </a:rPr>
              <a:t>匹配工作流节点</a:t>
            </a:r>
            <a:endParaRPr lang="en-US" altLang="zh-CN" sz="1100" b="1">
              <a:latin typeface="微软雅黑 (正文)" charset="0"/>
              <a:ea typeface="微软雅黑 (正文)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textbox 760"/>
          <p:cNvSpPr/>
          <p:nvPr/>
        </p:nvSpPr>
        <p:spPr>
          <a:xfrm>
            <a:off x="933450" y="4881880"/>
            <a:ext cx="2043430" cy="709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62" name="picture 7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339422"/>
            <a:ext cx="12192000" cy="518577"/>
          </a:xfrm>
          <a:prstGeom prst="rect">
            <a:avLst/>
          </a:prstGeom>
        </p:spPr>
      </p:pic>
      <p:pic>
        <p:nvPicPr>
          <p:cNvPr id="764" name="picture 7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43695" y="810374"/>
            <a:ext cx="1040069" cy="195110"/>
          </a:xfrm>
          <a:prstGeom prst="rect">
            <a:avLst/>
          </a:prstGeom>
        </p:spPr>
      </p:pic>
      <p:pic>
        <p:nvPicPr>
          <p:cNvPr id="766" name="picture 7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72362" y="486329"/>
            <a:ext cx="1298309" cy="422491"/>
          </a:xfrm>
          <a:prstGeom prst="rect">
            <a:avLst/>
          </a:prstGeom>
        </p:spPr>
      </p:pic>
      <p:pic>
        <p:nvPicPr>
          <p:cNvPr id="768" name="picture 7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83092" y="507936"/>
            <a:ext cx="1411896" cy="530643"/>
          </a:xfrm>
          <a:prstGeom prst="rect">
            <a:avLst/>
          </a:prstGeom>
        </p:spPr>
      </p:pic>
      <p:pic>
        <p:nvPicPr>
          <p:cNvPr id="770" name="picture 7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85399" y="508095"/>
            <a:ext cx="1310914" cy="429533"/>
          </a:xfrm>
          <a:prstGeom prst="rect">
            <a:avLst/>
          </a:prstGeom>
        </p:spPr>
      </p:pic>
      <p:pic>
        <p:nvPicPr>
          <p:cNvPr id="772" name="picture 7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451123" y="486329"/>
            <a:ext cx="1310913" cy="422491"/>
          </a:xfrm>
          <a:prstGeom prst="rect">
            <a:avLst/>
          </a:prstGeom>
        </p:spPr>
      </p:pic>
      <p:pic>
        <p:nvPicPr>
          <p:cNvPr id="774" name="picture 7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061743" y="486329"/>
            <a:ext cx="1310913" cy="422491"/>
          </a:xfrm>
          <a:prstGeom prst="rect">
            <a:avLst/>
          </a:prstGeom>
        </p:spPr>
      </p:pic>
      <p:sp>
        <p:nvSpPr>
          <p:cNvPr id="776" name="textbox 776"/>
          <p:cNvSpPr/>
          <p:nvPr/>
        </p:nvSpPr>
        <p:spPr>
          <a:xfrm>
            <a:off x="533734" y="351647"/>
            <a:ext cx="1104138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r>
              <a:rPr lang="en-US" sz="4900" b="1" kern="0" spc="20" baseline="-700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4900" b="1" kern="0" spc="20" baseline="-700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</a:t>
            </a:r>
            <a:r>
              <a:rPr lang="zh-CN" sz="4900" b="1" kern="0" spc="20" baseline="-700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sz="3100" b="1" kern="0" spc="2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sz="3100" b="1" kern="0" spc="1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20" baseline="600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行业认知</a:t>
            </a:r>
            <a:r>
              <a:rPr sz="17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700" b="1" kern="0" spc="20" baseline="6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项目创新</a:t>
            </a:r>
            <a:r>
              <a:rPr sz="17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700" b="1" kern="0" spc="20" baseline="1200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产业价值</a:t>
            </a:r>
            <a:r>
              <a:rPr sz="1700" b="1" kern="0" spc="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700" b="1" kern="0" spc="20" baseline="1200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项目团队</a:t>
            </a:r>
            <a:r>
              <a:rPr sz="1700" b="1" kern="0" spc="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2700" b="1" kern="0" spc="20" baseline="1200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个人成长</a:t>
            </a:r>
            <a:endParaRPr sz="2700" baseline="1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78" name="picture 7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161084" y="538015"/>
            <a:ext cx="1396916" cy="403207"/>
          </a:xfrm>
          <a:prstGeom prst="rect">
            <a:avLst/>
          </a:prstGeom>
        </p:spPr>
      </p:pic>
      <p:pic>
        <p:nvPicPr>
          <p:cNvPr id="780" name="picture 7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6434" y="516747"/>
            <a:ext cx="386654" cy="415792"/>
          </a:xfrm>
          <a:prstGeom prst="rect">
            <a:avLst/>
          </a:prstGeom>
        </p:spPr>
      </p:pic>
      <p:sp>
        <p:nvSpPr>
          <p:cNvPr id="794" name="textbox 794"/>
          <p:cNvSpPr/>
          <p:nvPr/>
        </p:nvSpPr>
        <p:spPr>
          <a:xfrm>
            <a:off x="3673408" y="1455792"/>
            <a:ext cx="2974975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XXXXXXXXX</a:t>
            </a:r>
            <a:r>
              <a:rPr sz="2700" b="1" kern="0" spc="4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6" name="textbox 796"/>
          <p:cNvSpPr/>
          <p:nvPr>
            <p:custDataLst>
              <p:tags r:id="rId10"/>
            </p:custDataLst>
          </p:nvPr>
        </p:nvSpPr>
        <p:spPr>
          <a:xfrm>
            <a:off x="3627932" y="2729191"/>
            <a:ext cx="1700529" cy="53276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8" name="textbox 798"/>
          <p:cNvSpPr/>
          <p:nvPr/>
        </p:nvSpPr>
        <p:spPr>
          <a:xfrm>
            <a:off x="6028537" y="2729191"/>
            <a:ext cx="1699895" cy="53276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0" name="textbox 800"/>
          <p:cNvSpPr/>
          <p:nvPr/>
        </p:nvSpPr>
        <p:spPr>
          <a:xfrm>
            <a:off x="6028537" y="2052828"/>
            <a:ext cx="1699895" cy="53213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2" name="textbox 802"/>
          <p:cNvSpPr/>
          <p:nvPr>
            <p:custDataLst>
              <p:tags r:id="rId11"/>
            </p:custDataLst>
          </p:nvPr>
        </p:nvSpPr>
        <p:spPr>
          <a:xfrm>
            <a:off x="3637788" y="2052828"/>
            <a:ext cx="1699895" cy="53213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04" name="picture 80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28269" y="379729"/>
            <a:ext cx="10230720" cy="74904"/>
          </a:xfrm>
          <a:prstGeom prst="rect">
            <a:avLst/>
          </a:prstGeom>
        </p:spPr>
      </p:pic>
      <p:sp>
        <p:nvSpPr>
          <p:cNvPr id="806" name="textbox 806"/>
          <p:cNvSpPr/>
          <p:nvPr/>
        </p:nvSpPr>
        <p:spPr>
          <a:xfrm>
            <a:off x="6476593" y="3848277"/>
            <a:ext cx="2151379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2" name="textbox 812"/>
          <p:cNvSpPr/>
          <p:nvPr/>
        </p:nvSpPr>
        <p:spPr>
          <a:xfrm>
            <a:off x="3935681" y="5707693"/>
            <a:ext cx="1767839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4" name="textbox 814"/>
          <p:cNvSpPr/>
          <p:nvPr/>
        </p:nvSpPr>
        <p:spPr>
          <a:xfrm>
            <a:off x="9371789" y="5606093"/>
            <a:ext cx="1518919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6" name="textbox 816"/>
          <p:cNvSpPr/>
          <p:nvPr/>
        </p:nvSpPr>
        <p:spPr>
          <a:xfrm>
            <a:off x="6897639" y="5606093"/>
            <a:ext cx="127000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18" name="picture 8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56630" y="990600"/>
            <a:ext cx="2154604" cy="19050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-635" y="6396355"/>
            <a:ext cx="12192000" cy="456565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  <p:txBody>
          <a:bodyPr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sym typeface="+mn-ea"/>
              </a:rPr>
              <a:t>        核心价値：</a:t>
            </a:r>
            <a:r>
              <a:rPr lang="zh-CN" altLang="en-US" b="1" dirty="0">
                <a:solidFill>
                  <a:srgbClr val="FFFFFF"/>
                </a:solidFill>
                <a:sym typeface="+mn-ea"/>
              </a:rPr>
              <a:t>让 </a:t>
            </a:r>
            <a:r>
              <a:rPr lang="en-US" altLang="zh-CN" b="1" dirty="0">
                <a:solidFill>
                  <a:srgbClr val="FFFFFF"/>
                </a:solidFill>
                <a:sym typeface="+mn-ea"/>
              </a:rPr>
              <a:t>AI </a:t>
            </a:r>
            <a:r>
              <a:rPr lang="zh-CN" altLang="en-US" b="1" dirty="0">
                <a:solidFill>
                  <a:srgbClr val="FFFFFF"/>
                </a:solidFill>
                <a:sym typeface="+mn-ea"/>
              </a:rPr>
              <a:t>工具选择从“经验判断”转向“数据辅助决策”</a:t>
            </a:r>
            <a:r>
              <a:rPr lang="zh-CN" altLang="en-US" b="1" dirty="0">
                <a:solidFill>
                  <a:srgbClr val="FFFFFF"/>
                </a:solidFill>
                <a:sym typeface="+mn-ea"/>
              </a:rPr>
              <a:t>。</a:t>
            </a:r>
            <a:endParaRPr lang="zh-CN" altLang="en-US" b="1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80645" y="6474841"/>
            <a:ext cx="347472" cy="34747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sym typeface="+mn-ea"/>
              </a:rPr>
              <a:t>◆</a:t>
            </a:r>
            <a:endParaRPr lang="en-US" altLang="en-US" sz="12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280" y="1195705"/>
            <a:ext cx="317246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  <a:latin typeface="新宋体" panose="02010609030101010101" charset="-122"/>
                <a:ea typeface="新宋体" panose="02010609030101010101" charset="-122"/>
              </a:rPr>
              <a:t>智能提示词引擎与参数化生成</a:t>
            </a:r>
            <a:endParaRPr lang="zh-CN" altLang="en-US" b="1">
              <a:solidFill>
                <a:schemeClr val="bg1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4"/>
          <a:srcRect l="-4794" r="4794"/>
          <a:stretch>
            <a:fillRect/>
          </a:stretch>
        </p:blipFill>
        <p:spPr>
          <a:xfrm>
            <a:off x="2870835" y="1092835"/>
            <a:ext cx="9320530" cy="530352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5"/>
          <a:stretch>
            <a:fillRect/>
          </a:stretch>
        </p:blipFill>
        <p:spPr>
          <a:xfrm>
            <a:off x="6093460" y="1092835"/>
            <a:ext cx="3968115" cy="96012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5"/>
          <a:stretch>
            <a:fillRect/>
          </a:stretch>
        </p:blipFill>
        <p:spPr>
          <a:xfrm>
            <a:off x="-1270" y="1092835"/>
            <a:ext cx="6840855" cy="5303520"/>
          </a:xfrm>
          <a:prstGeom prst="rect">
            <a:avLst/>
          </a:prstGeom>
        </p:spPr>
      </p:pic>
      <p:sp>
        <p:nvSpPr>
          <p:cNvPr id="20" name="card1_bg"/>
          <p:cNvSpPr/>
          <p:nvPr>
            <p:custDataLst>
              <p:tags r:id="rId16"/>
            </p:custDataLst>
          </p:nvPr>
        </p:nvSpPr>
        <p:spPr>
          <a:xfrm>
            <a:off x="201930" y="1698625"/>
            <a:ext cx="6296025" cy="1127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4" name="card1_bg"/>
          <p:cNvSpPr/>
          <p:nvPr>
            <p:custDataLst>
              <p:tags r:id="rId17"/>
            </p:custDataLst>
          </p:nvPr>
        </p:nvSpPr>
        <p:spPr>
          <a:xfrm>
            <a:off x="201930" y="3305175"/>
            <a:ext cx="6274435" cy="1127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" name="card1_bg"/>
          <p:cNvSpPr/>
          <p:nvPr>
            <p:custDataLst>
              <p:tags r:id="rId18"/>
            </p:custDataLst>
          </p:nvPr>
        </p:nvSpPr>
        <p:spPr>
          <a:xfrm>
            <a:off x="201930" y="4822190"/>
            <a:ext cx="6274435" cy="1229995"/>
          </a:xfrm>
          <a:prstGeom prst="rect">
            <a:avLst/>
          </a:prstGeom>
          <a:solidFill>
            <a:srgbClr val="FFFFFF"/>
          </a:solidFill>
          <a:ln w="889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B0C8E8">
                <a:alpha val="30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41" name="card3_accent"/>
          <p:cNvSpPr/>
          <p:nvPr>
            <p:custDataLst>
              <p:tags r:id="rId19"/>
            </p:custDataLst>
          </p:nvPr>
        </p:nvSpPr>
        <p:spPr>
          <a:xfrm>
            <a:off x="198120" y="3325880"/>
            <a:ext cx="57150" cy="1127760"/>
          </a:xfrm>
          <a:prstGeom prst="rect">
            <a:avLst/>
          </a:prstGeom>
          <a:solidFill>
            <a:srgbClr val="1A6FC4"/>
          </a:solidFill>
          <a:ln w="0">
            <a:solidFill>
              <a:srgbClr val="1A6FC4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6" name="card3_accent"/>
          <p:cNvSpPr/>
          <p:nvPr>
            <p:custDataLst>
              <p:tags r:id="rId20"/>
            </p:custDataLst>
          </p:nvPr>
        </p:nvSpPr>
        <p:spPr>
          <a:xfrm>
            <a:off x="201930" y="1728220"/>
            <a:ext cx="57150" cy="1127760"/>
          </a:xfrm>
          <a:prstGeom prst="rect">
            <a:avLst/>
          </a:prstGeom>
          <a:solidFill>
            <a:srgbClr val="1A6FC4"/>
          </a:solidFill>
          <a:ln w="0">
            <a:solidFill>
              <a:srgbClr val="1A6FC4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7" name="card3_accent"/>
          <p:cNvSpPr/>
          <p:nvPr>
            <p:custDataLst>
              <p:tags r:id="rId21"/>
            </p:custDataLst>
          </p:nvPr>
        </p:nvSpPr>
        <p:spPr>
          <a:xfrm flipH="1">
            <a:off x="186055" y="4822190"/>
            <a:ext cx="76200" cy="1229995"/>
          </a:xfrm>
          <a:prstGeom prst="rect">
            <a:avLst/>
          </a:prstGeom>
          <a:solidFill>
            <a:srgbClr val="1A6FC4"/>
          </a:solidFill>
          <a:ln w="0">
            <a:solidFill>
              <a:srgbClr val="1A6FC4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22" name="card1_num"/>
          <p:cNvSpPr/>
          <p:nvPr>
            <p:custDataLst>
              <p:tags r:id="rId22"/>
            </p:custDataLst>
          </p:nvPr>
        </p:nvSpPr>
        <p:spPr>
          <a:xfrm>
            <a:off x="427990" y="1839595"/>
            <a:ext cx="285750" cy="285750"/>
          </a:xfrm>
          <a:prstGeom prst="ellipse">
            <a:avLst/>
          </a:prstGeom>
          <a:solidFill>
            <a:srgbClr val="1A6FC4"/>
          </a:solidFill>
          <a:ln w="0">
            <a:solidFill>
              <a:srgbClr val="1A6FC4"/>
            </a:solidFill>
          </a:ln>
        </p:spPr>
        <p:txBody>
          <a:bodyPr lIns="0" tIns="0" rIns="0" bIns="0" anchor="ctr"/>
          <a:p>
            <a:pPr algn="ctr">
              <a:buNone/>
            </a:pPr>
            <a:r>
              <a:rPr lang="en-US" altLang="zh-CN" sz="900" b="1" dirty="0">
                <a:solidFill>
                  <a:srgbClr val="FFFFFF"/>
                </a:solidFill>
              </a:rPr>
              <a:t>1</a:t>
            </a:r>
            <a:endParaRPr lang="en-US" altLang="zh-CN" sz="900" b="1" dirty="0">
              <a:solidFill>
                <a:srgbClr val="FFFFFF"/>
              </a:solidFill>
            </a:endParaRPr>
          </a:p>
        </p:txBody>
      </p:sp>
      <p:sp>
        <p:nvSpPr>
          <p:cNvPr id="32" name="card2_num"/>
          <p:cNvSpPr/>
          <p:nvPr>
            <p:custDataLst>
              <p:tags r:id="rId23"/>
            </p:custDataLst>
          </p:nvPr>
        </p:nvSpPr>
        <p:spPr>
          <a:xfrm>
            <a:off x="429260" y="3439035"/>
            <a:ext cx="285750" cy="285750"/>
          </a:xfrm>
          <a:prstGeom prst="ellipse">
            <a:avLst/>
          </a:prstGeom>
          <a:solidFill>
            <a:srgbClr val="1A6FC4"/>
          </a:solidFill>
          <a:ln w="0">
            <a:solidFill>
              <a:srgbClr val="1A6FC4"/>
            </a:solidFill>
          </a:ln>
        </p:spPr>
        <p:txBody>
          <a:bodyPr lIns="0" tIns="0" rIns="0" bIns="0" anchor="ctr"/>
          <a:p>
            <a:pPr algn="ctr">
              <a:buNone/>
            </a:pPr>
            <a:r>
              <a:rPr lang="en-US" altLang="zh-CN" sz="900" b="1" dirty="0">
                <a:solidFill>
                  <a:srgbClr val="FFFFFF"/>
                </a:solidFill>
              </a:rPr>
              <a:t>2</a:t>
            </a:r>
            <a:endParaRPr lang="en-US" altLang="zh-CN" sz="900" b="1" dirty="0">
              <a:solidFill>
                <a:srgbClr val="FFFFFF"/>
              </a:solidFill>
            </a:endParaRPr>
          </a:p>
        </p:txBody>
      </p:sp>
      <p:sp>
        <p:nvSpPr>
          <p:cNvPr id="42" name="card3_num"/>
          <p:cNvSpPr/>
          <p:nvPr>
            <p:custDataLst>
              <p:tags r:id="rId24"/>
            </p:custDataLst>
          </p:nvPr>
        </p:nvSpPr>
        <p:spPr>
          <a:xfrm>
            <a:off x="451485" y="5038475"/>
            <a:ext cx="285750" cy="285750"/>
          </a:xfrm>
          <a:prstGeom prst="ellipse">
            <a:avLst/>
          </a:prstGeom>
          <a:solidFill>
            <a:srgbClr val="1A6FC4"/>
          </a:solidFill>
          <a:ln w="0">
            <a:solidFill>
              <a:srgbClr val="1A6FC4"/>
            </a:solidFill>
          </a:ln>
        </p:spPr>
        <p:txBody>
          <a:bodyPr lIns="0" tIns="0" rIns="0" bIns="0" anchor="ctr"/>
          <a:p>
            <a:pPr algn="ctr">
              <a:buNone/>
            </a:pPr>
            <a:r>
              <a:rPr lang="en-US" altLang="zh-CN" sz="900" b="1" dirty="0">
                <a:solidFill>
                  <a:srgbClr val="FFFFFF"/>
                </a:solidFill>
              </a:rPr>
              <a:t>3</a:t>
            </a:r>
            <a:endParaRPr lang="en-US" altLang="zh-CN" sz="900" b="1" dirty="0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6895" y="2125345"/>
            <a:ext cx="5941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5A7BA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按前期分析、概念生成、深化推敲、成果表达等阶段推荐适配工具。</a:t>
            </a:r>
            <a:endParaRPr lang="zh-CN" altLang="en-US" dirty="0">
              <a:solidFill>
                <a:srgbClr val="5A7BA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9260" y="1146175"/>
            <a:ext cx="56642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altLang="zh-CN" sz="2800" b="1" dirty="0">
                <a:solidFill>
                  <a:srgbClr val="0D2B5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</a:t>
            </a:r>
            <a:r>
              <a:rPr lang="zh-CN" altLang="en-US" sz="3200" b="1" dirty="0">
                <a:solidFill>
                  <a:srgbClr val="0D2B5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AI 工具多维测评与推荐机制</a:t>
            </a:r>
            <a:endParaRPr lang="zh-CN" altLang="en-US" sz="3200" b="1" dirty="0">
              <a:solidFill>
                <a:srgbClr val="0D2B5E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0875" y="1757045"/>
            <a:ext cx="2060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0D2B5E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阶段化工具匹配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13740" y="3393440"/>
            <a:ext cx="216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0D2B5E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多维度测评体系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57530" y="3724910"/>
            <a:ext cx="6036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5A7BA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从生成质量、操作门槛、稳定性、可控性、推荐度等维度量化工具能力。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15010" y="5038725"/>
            <a:ext cx="2327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0D2B5E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用户反馈辅助决策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50875" y="5407025"/>
            <a:ext cx="5751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5A7BA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融合管理员专业测评与用户真实评分，形成可持续优化的推荐依据。</a:t>
            </a:r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3042285" y="2825750"/>
            <a:ext cx="368300" cy="479425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" name="Shape 21"/>
          <p:cNvSpPr/>
          <p:nvPr/>
        </p:nvSpPr>
        <p:spPr>
          <a:xfrm>
            <a:off x="3046730" y="4432935"/>
            <a:ext cx="368300" cy="38862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895975" y="117665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zh-CN" altLang="en-US" sz="1400" dirty="0">
                <a:solidFill>
                  <a:srgbClr val="5A7BA0"/>
                </a:solidFill>
                <a:latin typeface="Calibri (正文)" charset="0"/>
                <a:ea typeface="Calibri (正文)" charset="0"/>
                <a:sym typeface="+mn-ea"/>
              </a:rPr>
              <a:t>针对 AI 工具碎片化、选型无标准的问题</a:t>
            </a:r>
            <a:endParaRPr lang="zh-CN" altLang="en-US" sz="1400" dirty="0">
              <a:solidFill>
                <a:srgbClr val="5A7BA0"/>
              </a:solidFill>
              <a:latin typeface="Calibri (正文)" charset="0"/>
              <a:ea typeface="Calibri (正文)" charset="0"/>
              <a:sym typeface="+mn-ea"/>
            </a:endParaRPr>
          </a:p>
          <a:p>
            <a:pPr marL="0" indent="0" algn="l">
              <a:buNone/>
            </a:pPr>
            <a:r>
              <a:rPr lang="zh-CN" altLang="en-US" sz="1400" dirty="0">
                <a:solidFill>
                  <a:srgbClr val="5A7BA0"/>
                </a:solidFill>
                <a:latin typeface="Calibri (正文)" charset="0"/>
                <a:ea typeface="Calibri (正文)" charset="0"/>
                <a:sym typeface="+mn-ea"/>
              </a:rPr>
              <a:t>平台建立面向建筑设计阶段的工具测评体系。</a:t>
            </a:r>
            <a:endParaRPr lang="zh-CN" altLang="en-US" sz="1400" dirty="0">
              <a:solidFill>
                <a:srgbClr val="5A7BA0"/>
              </a:solidFill>
              <a:latin typeface="Calibri (正文)" charset="0"/>
              <a:ea typeface="Calibri (正文)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0" name="table 820"/>
          <p:cNvGraphicFramePr>
            <a:graphicFrameLocks noGrp="1"/>
          </p:cNvGraphicFramePr>
          <p:nvPr/>
        </p:nvGraphicFramePr>
        <p:xfrm>
          <a:off x="465416" y="1389036"/>
          <a:ext cx="4900295" cy="2105659"/>
        </p:xfrm>
        <a:graphic>
          <a:graphicData uri="http://schemas.openxmlformats.org/drawingml/2006/table">
            <a:tbl>
              <a:tblPr/>
              <a:tblGrid>
                <a:gridCol w="4900295"/>
              </a:tblGrid>
              <a:tr h="2099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E4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4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4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4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56" name="picture 8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339422"/>
            <a:ext cx="12192000" cy="518577"/>
          </a:xfrm>
          <a:prstGeom prst="rect">
            <a:avLst/>
          </a:prstGeom>
        </p:spPr>
      </p:pic>
      <p:pic>
        <p:nvPicPr>
          <p:cNvPr id="860" name="picture 8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43695" y="810374"/>
            <a:ext cx="1040069" cy="195110"/>
          </a:xfrm>
          <a:prstGeom prst="rect">
            <a:avLst/>
          </a:prstGeom>
        </p:spPr>
      </p:pic>
      <p:pic>
        <p:nvPicPr>
          <p:cNvPr id="862" name="picture 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72362" y="486329"/>
            <a:ext cx="1298309" cy="422491"/>
          </a:xfrm>
          <a:prstGeom prst="rect">
            <a:avLst/>
          </a:prstGeom>
        </p:spPr>
      </p:pic>
      <p:pic>
        <p:nvPicPr>
          <p:cNvPr id="864" name="picture 8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83092" y="507936"/>
            <a:ext cx="1411896" cy="530643"/>
          </a:xfrm>
          <a:prstGeom prst="rect">
            <a:avLst/>
          </a:prstGeom>
        </p:spPr>
      </p:pic>
      <p:pic>
        <p:nvPicPr>
          <p:cNvPr id="866" name="picture 8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85399" y="508095"/>
            <a:ext cx="1310914" cy="429533"/>
          </a:xfrm>
          <a:prstGeom prst="rect">
            <a:avLst/>
          </a:prstGeom>
        </p:spPr>
      </p:pic>
      <p:pic>
        <p:nvPicPr>
          <p:cNvPr id="868" name="picture 8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61743" y="486329"/>
            <a:ext cx="1310913" cy="422491"/>
          </a:xfrm>
          <a:prstGeom prst="rect">
            <a:avLst/>
          </a:prstGeom>
        </p:spPr>
      </p:pic>
      <p:pic>
        <p:nvPicPr>
          <p:cNvPr id="870" name="picture 8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451123" y="486329"/>
            <a:ext cx="1310913" cy="422491"/>
          </a:xfrm>
          <a:prstGeom prst="rect">
            <a:avLst/>
          </a:prstGeom>
        </p:spPr>
      </p:pic>
      <p:sp>
        <p:nvSpPr>
          <p:cNvPr id="872" name="textbox 872"/>
          <p:cNvSpPr/>
          <p:nvPr/>
        </p:nvSpPr>
        <p:spPr>
          <a:xfrm>
            <a:off x="533734" y="504047"/>
            <a:ext cx="1104138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575945"/>
          <a:lstStyle/>
          <a:p>
            <a:pPr algn="l" rtl="0" eaLnBrk="0">
              <a:lnSpc>
                <a:spcPct val="119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8780" algn="l" rtl="0" eaLnBrk="0">
              <a:lnSpc>
                <a:spcPct val="85000"/>
              </a:lnSpc>
              <a:spcBef>
                <a:spcPts val="0"/>
              </a:spcBef>
              <a:tabLst>
                <a:tab pos="662305" algn="l"/>
              </a:tabLst>
            </a:pPr>
            <a:r>
              <a:rPr sz="3100" b="1" kern="0" spc="0" dirty="0">
                <a:solidFill>
                  <a:srgbClr val="0553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4900" b="1" kern="0" spc="20" baseline="-7000" dirty="0">
                <a:solidFill>
                  <a:srgbClr val="0553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</a:t>
            </a:r>
            <a:r>
              <a:rPr lang="zh-CN" sz="4900" b="1" kern="0" spc="20" baseline="-7000" dirty="0">
                <a:solidFill>
                  <a:srgbClr val="0553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sz="3100" b="1" kern="0" spc="20" dirty="0">
                <a:solidFill>
                  <a:srgbClr val="0553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lang="en-US" sz="3100" b="1" kern="0" spc="20" dirty="0">
                <a:solidFill>
                  <a:srgbClr val="0553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20" baseline="600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行业认知</a:t>
            </a:r>
            <a:r>
              <a:rPr sz="17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700" b="1" kern="0" spc="20" baseline="6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项目创新</a:t>
            </a:r>
            <a:r>
              <a:rPr sz="17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700" b="1" kern="0" spc="20" baseline="1200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产业价值</a:t>
            </a:r>
            <a:r>
              <a:rPr sz="1700" b="1" kern="0" spc="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700" b="1" kern="0" spc="20" baseline="1200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项目团队</a:t>
            </a:r>
            <a:r>
              <a:rPr sz="1700" b="1" kern="0" spc="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700" b="1" kern="0" spc="20" baseline="1200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个人成长</a:t>
            </a:r>
            <a:endParaRPr sz="2700" baseline="1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74" name="picture 8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161084" y="538015"/>
            <a:ext cx="1396916" cy="403207"/>
          </a:xfrm>
          <a:prstGeom prst="rect">
            <a:avLst/>
          </a:prstGeom>
        </p:spPr>
      </p:pic>
      <p:pic>
        <p:nvPicPr>
          <p:cNvPr id="876" name="picture 87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6434" y="516747"/>
            <a:ext cx="386654" cy="415792"/>
          </a:xfrm>
          <a:prstGeom prst="rect">
            <a:avLst/>
          </a:prstGeom>
        </p:spPr>
      </p:pic>
      <p:pic>
        <p:nvPicPr>
          <p:cNvPr id="880" name="picture 8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28269" y="379729"/>
            <a:ext cx="10230720" cy="74904"/>
          </a:xfrm>
          <a:prstGeom prst="rect">
            <a:avLst/>
          </a:prstGeom>
        </p:spPr>
      </p:pic>
      <p:sp>
        <p:nvSpPr>
          <p:cNvPr id="892" name="textbox 892"/>
          <p:cNvSpPr/>
          <p:nvPr/>
        </p:nvSpPr>
        <p:spPr>
          <a:xfrm>
            <a:off x="6817944" y="4410876"/>
            <a:ext cx="911860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4" name="textbox 894"/>
          <p:cNvSpPr/>
          <p:nvPr/>
        </p:nvSpPr>
        <p:spPr>
          <a:xfrm>
            <a:off x="10020007" y="4411947"/>
            <a:ext cx="91186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6" name="textbox 896"/>
          <p:cNvSpPr/>
          <p:nvPr/>
        </p:nvSpPr>
        <p:spPr>
          <a:xfrm>
            <a:off x="5374585" y="4413731"/>
            <a:ext cx="913130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98" name="picture 89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56630" y="990600"/>
            <a:ext cx="2154604" cy="19050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-635" y="6396355"/>
            <a:ext cx="12192000" cy="456565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  <p:txBody>
          <a:bodyPr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sym typeface="+mn-ea"/>
              </a:rPr>
              <a:t>        </a:t>
            </a:r>
            <a:r>
              <a:rPr lang="zh-CN" altLang="en-US" b="1" dirty="0">
                <a:solidFill>
                  <a:srgbClr val="FFFFFF"/>
                </a:solidFill>
                <a:sym typeface="+mn-ea"/>
              </a:rPr>
              <a:t>核心价值：</a:t>
            </a:r>
            <a:r>
              <a:rPr 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让 AI 辅助设计从“一次性生成”走向“可记录、可评价、可复盘、可沉淀”的持续优化体系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zh-CN" altLang="en-US" b="1" dirty="0">
                <a:solidFill>
                  <a:srgbClr val="FFFFFF"/>
                </a:solidFill>
                <a:sym typeface="+mn-ea"/>
              </a:rPr>
              <a:t>。</a:t>
            </a:r>
            <a:endParaRPr lang="zh-CN" altLang="en-US" b="1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118110" y="6396101"/>
            <a:ext cx="347472" cy="34747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sym typeface="+mn-ea"/>
              </a:rPr>
              <a:t>◆</a:t>
            </a:r>
            <a:endParaRPr lang="en-US" altLang="en-US" sz="12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7990" y="13608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核心技术三：全过程数据闭环与平台支撑架构</a:t>
            </a:r>
            <a:endParaRPr lang="zh-CN" altLang="en-US"/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82675"/>
            <a:ext cx="12192000" cy="5316855"/>
          </a:xfrm>
          <a:prstGeom prst="rect">
            <a:avLst/>
          </a:prstGeom>
        </p:spPr>
      </p:pic>
      <p:sp>
        <p:nvSpPr>
          <p:cNvPr id="48" name="Shape 46"/>
          <p:cNvSpPr/>
          <p:nvPr/>
        </p:nvSpPr>
        <p:spPr>
          <a:xfrm>
            <a:off x="5706110" y="1843532"/>
            <a:ext cx="635508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3970">
            <a:solidFill>
              <a:srgbClr val="C3D8F8"/>
            </a:solidFill>
            <a:prstDash val="solid"/>
          </a:ln>
        </p:spPr>
      </p:sp>
      <p:pic>
        <p:nvPicPr>
          <p:cNvPr id="11" name="Image 0" descr="/mnt/data/wide_clean_tech_infographic_scene_high_detail_fut.png"/>
          <p:cNvPicPr>
            <a:picLocks noChangeAspect="1"/>
          </p:cNvPicPr>
          <p:nvPr/>
        </p:nvPicPr>
        <p:blipFill>
          <a:blip r:embed="rId13"/>
          <a:srcRect l="27000" t="4000" r="-1572" b="10000"/>
          <a:stretch>
            <a:fillRect/>
          </a:stretch>
        </p:blipFill>
        <p:spPr>
          <a:xfrm>
            <a:off x="5902833" y="1907540"/>
            <a:ext cx="6227064" cy="4041648"/>
          </a:xfrm>
          <a:prstGeom prst="rect">
            <a:avLst/>
          </a:prstGeom>
        </p:spPr>
      </p:pic>
      <p:sp>
        <p:nvSpPr>
          <p:cNvPr id="21" name="Shape 19"/>
          <p:cNvSpPr/>
          <p:nvPr/>
        </p:nvSpPr>
        <p:spPr>
          <a:xfrm>
            <a:off x="292608" y="1843532"/>
            <a:ext cx="5029200" cy="4169664"/>
          </a:xfrm>
          <a:prstGeom prst="roundRect">
            <a:avLst>
              <a:gd name="adj" fmla="val 3509"/>
            </a:avLst>
          </a:prstGeom>
          <a:solidFill>
            <a:srgbClr val="F5F9FF"/>
          </a:solidFill>
          <a:ln w="13970">
            <a:solidFill>
              <a:srgbClr val="D4E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035" y="3075305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C9DBF6"/>
            </a:solidFill>
            <a:prstDash val="solid"/>
          </a:ln>
        </p:spPr>
      </p:sp>
      <p:sp>
        <p:nvSpPr>
          <p:cNvPr id="12" name="Shape 26"/>
          <p:cNvSpPr/>
          <p:nvPr/>
        </p:nvSpPr>
        <p:spPr>
          <a:xfrm>
            <a:off x="2992755" y="3075305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C9DBF6"/>
            </a:solidFill>
            <a:prstDash val="solid"/>
          </a:ln>
        </p:spPr>
      </p:sp>
      <p:sp>
        <p:nvSpPr>
          <p:cNvPr id="13" name="Shape 26"/>
          <p:cNvSpPr/>
          <p:nvPr/>
        </p:nvSpPr>
        <p:spPr>
          <a:xfrm>
            <a:off x="562610" y="4683125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C9DBF6"/>
            </a:solidFill>
            <a:prstDash val="solid"/>
          </a:ln>
        </p:spPr>
      </p:sp>
      <p:sp>
        <p:nvSpPr>
          <p:cNvPr id="14" name="Shape 26"/>
          <p:cNvSpPr/>
          <p:nvPr/>
        </p:nvSpPr>
        <p:spPr>
          <a:xfrm>
            <a:off x="2992755" y="4654550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C9DBF6"/>
            </a:solidFill>
            <a:prstDash val="solid"/>
          </a:ln>
        </p:spPr>
      </p:sp>
      <p:sp>
        <p:nvSpPr>
          <p:cNvPr id="17" name="Shape 25"/>
          <p:cNvSpPr/>
          <p:nvPr/>
        </p:nvSpPr>
        <p:spPr>
          <a:xfrm>
            <a:off x="4066540" y="4222115"/>
            <a:ext cx="635" cy="301625"/>
          </a:xfrm>
          <a:prstGeom prst="line">
            <a:avLst/>
          </a:prstGeom>
          <a:noFill/>
          <a:ln w="20320">
            <a:solidFill>
              <a:srgbClr val="74A9F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77545" y="4768977"/>
            <a:ext cx="347472" cy="347472"/>
          </a:xfrm>
          <a:prstGeom prst="ellipse">
            <a:avLst/>
          </a:prstGeom>
          <a:solidFill>
            <a:srgbClr val="0B4FB3"/>
          </a:solidFill>
          <a:ln w="15240">
            <a:solidFill>
              <a:srgbClr val="FFFFFF"/>
            </a:solidFill>
            <a:prstDash val="solid"/>
          </a:ln>
        </p:spPr>
        <p:txBody>
          <a:bodyPr lIns="71755" rIns="0" bIns="323850"/>
          <a:p>
            <a:r>
              <a:rPr lang="en-US" altLang="zh-CN">
                <a:solidFill>
                  <a:schemeClr val="bg1"/>
                </a:solidFill>
              </a:rPr>
              <a:t>4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8" name="Shape 27"/>
          <p:cNvSpPr/>
          <p:nvPr/>
        </p:nvSpPr>
        <p:spPr>
          <a:xfrm>
            <a:off x="677545" y="3141472"/>
            <a:ext cx="347472" cy="347472"/>
          </a:xfrm>
          <a:prstGeom prst="ellipse">
            <a:avLst/>
          </a:prstGeom>
          <a:solidFill>
            <a:srgbClr val="0B4FB3"/>
          </a:solidFill>
          <a:ln w="15240">
            <a:solidFill>
              <a:srgbClr val="FFFFFF"/>
            </a:solidFill>
            <a:prstDash val="solid"/>
          </a:ln>
        </p:spPr>
        <p:txBody>
          <a:bodyPr rIns="215900" bIns="288290"/>
          <a:p>
            <a:r>
              <a:rPr lang="en-US" altLang="zh-CN">
                <a:solidFill>
                  <a:schemeClr val="bg1"/>
                </a:solidFill>
              </a:rPr>
              <a:t>1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9" name="Shape 27"/>
          <p:cNvSpPr/>
          <p:nvPr/>
        </p:nvSpPr>
        <p:spPr>
          <a:xfrm>
            <a:off x="3136265" y="3141472"/>
            <a:ext cx="347472" cy="347472"/>
          </a:xfrm>
          <a:prstGeom prst="ellipse">
            <a:avLst/>
          </a:prstGeom>
          <a:solidFill>
            <a:srgbClr val="0B4FB3"/>
          </a:solidFill>
          <a:ln w="15240">
            <a:solidFill>
              <a:srgbClr val="FFFFFF"/>
            </a:solidFill>
            <a:prstDash val="solid"/>
          </a:ln>
        </p:spPr>
        <p:txBody>
          <a:bodyPr lIns="71755" bIns="288290"/>
          <a:p>
            <a:r>
              <a:rPr lang="en-US" altLang="zh-CN">
                <a:solidFill>
                  <a:schemeClr val="bg1"/>
                </a:solidFill>
              </a:rPr>
              <a:t>2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0" name="Shape 27"/>
          <p:cNvSpPr/>
          <p:nvPr/>
        </p:nvSpPr>
        <p:spPr>
          <a:xfrm>
            <a:off x="3136265" y="4740402"/>
            <a:ext cx="347472" cy="347472"/>
          </a:xfrm>
          <a:prstGeom prst="ellipse">
            <a:avLst/>
          </a:prstGeom>
          <a:solidFill>
            <a:srgbClr val="0B4FB3"/>
          </a:solidFill>
          <a:ln w="15240">
            <a:solidFill>
              <a:srgbClr val="FFFFFF"/>
            </a:solidFill>
            <a:prstDash val="solid"/>
          </a:ln>
        </p:spPr>
        <p:txBody>
          <a:bodyPr lIns="36195" tIns="71755" rIns="0" bIns="323850"/>
          <a:p>
            <a:r>
              <a:rPr lang="en-US" altLang="zh-CN">
                <a:solidFill>
                  <a:schemeClr val="bg1"/>
                </a:solidFill>
              </a:rPr>
              <a:t>3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24890" y="3120390"/>
            <a:ext cx="1740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dirty="0">
                <a:solidFill>
                  <a:srgbClr val="003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过程数据记录</a:t>
            </a:r>
            <a:endParaRPr lang="en-US" altLang="en-US" sz="1600" b="1" dirty="0">
              <a:solidFill>
                <a:srgbClr val="003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03600" y="3120390"/>
            <a:ext cx="16643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dirty="0">
                <a:solidFill>
                  <a:srgbClr val="003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用户反馈采集</a:t>
            </a:r>
            <a:endParaRPr lang="en-US" altLang="en-US" sz="1600" b="1" dirty="0">
              <a:solidFill>
                <a:srgbClr val="003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56895" y="3533140"/>
            <a:ext cx="2314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dirty="0">
                <a:solidFill>
                  <a:srgbClr val="0F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保存工作流实例、节点输入输出、提示词渲染与复制行为</a:t>
            </a:r>
            <a:endParaRPr lang="en-US" sz="1200" dirty="0"/>
          </a:p>
          <a:p>
            <a:endParaRPr lang="en-US" altLang="en-US" sz="1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3056890" y="3496945"/>
            <a:ext cx="2011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dirty="0">
                <a:solidFill>
                  <a:srgbClr val="0F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汇总工具评分、工作流评分、问卷反馈与行为日志</a:t>
            </a:r>
            <a:endParaRPr lang="en-US" altLang="en-US" sz="1200" dirty="0">
              <a:solidFill>
                <a:srgbClr val="0F2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0" name="Shape 25"/>
          <p:cNvSpPr/>
          <p:nvPr/>
        </p:nvSpPr>
        <p:spPr>
          <a:xfrm rot="10620000" flipV="1">
            <a:off x="2691765" y="5124450"/>
            <a:ext cx="300990" cy="635"/>
          </a:xfrm>
          <a:prstGeom prst="line">
            <a:avLst/>
          </a:prstGeom>
          <a:noFill/>
          <a:ln w="20320">
            <a:solidFill>
              <a:srgbClr val="74A9F7"/>
            </a:solidFill>
            <a:prstDash val="solid"/>
            <a:headEnd type="none"/>
            <a:tailEnd type="triangle"/>
          </a:ln>
        </p:spPr>
      </p:sp>
      <p:sp>
        <p:nvSpPr>
          <p:cNvPr id="31" name="Shape 25"/>
          <p:cNvSpPr/>
          <p:nvPr/>
        </p:nvSpPr>
        <p:spPr>
          <a:xfrm rot="21420000" flipV="1">
            <a:off x="2682875" y="3568700"/>
            <a:ext cx="300990" cy="635"/>
          </a:xfrm>
          <a:prstGeom prst="line">
            <a:avLst/>
          </a:prstGeom>
          <a:noFill/>
          <a:ln w="20320">
            <a:solidFill>
              <a:srgbClr val="74A9F7"/>
            </a:solidFill>
            <a:prstDash val="solid"/>
            <a:headEnd type="none"/>
            <a:tailEnd type="triangle"/>
          </a:ln>
        </p:spPr>
      </p:sp>
      <p:sp>
        <p:nvSpPr>
          <p:cNvPr id="32" name="文本框 31"/>
          <p:cNvSpPr txBox="1"/>
          <p:nvPr/>
        </p:nvSpPr>
        <p:spPr>
          <a:xfrm>
            <a:off x="3480435" y="4758690"/>
            <a:ext cx="1485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dirty="0">
                <a:solidFill>
                  <a:srgbClr val="003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案例沉淀审核</a:t>
            </a:r>
            <a:endParaRPr lang="en-US" alt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1024890" y="4768850"/>
            <a:ext cx="158051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 b="1" dirty="0">
                <a:solidFill>
                  <a:srgbClr val="003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后台统计分析</a:t>
            </a:r>
            <a:endParaRPr lang="en-US" sz="1600" dirty="0"/>
          </a:p>
          <a:p>
            <a:endParaRPr lang="en-US" altLang="en-US" sz="1600" dirty="0"/>
          </a:p>
        </p:txBody>
      </p:sp>
      <p:sp>
        <p:nvSpPr>
          <p:cNvPr id="34" name="文本框 33"/>
          <p:cNvSpPr txBox="1"/>
          <p:nvPr/>
        </p:nvSpPr>
        <p:spPr>
          <a:xfrm>
            <a:off x="3161030" y="5095875"/>
            <a:ext cx="2030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dirty="0">
                <a:solidFill>
                  <a:srgbClr val="0F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用户提交案例，管理员审核通过后进入公开成果库</a:t>
            </a:r>
            <a:endParaRPr lang="en-US" sz="1200" dirty="0"/>
          </a:p>
          <a:p>
            <a:endParaRPr lang="en-US" altLang="en-US" sz="1200" dirty="0"/>
          </a:p>
        </p:txBody>
      </p:sp>
      <p:sp>
        <p:nvSpPr>
          <p:cNvPr id="35" name="文本框 34"/>
          <p:cNvSpPr txBox="1"/>
          <p:nvPr/>
        </p:nvSpPr>
        <p:spPr>
          <a:xfrm>
            <a:off x="678180" y="5157470"/>
            <a:ext cx="2012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dirty="0">
                <a:solidFill>
                  <a:srgbClr val="0F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统计访问、提示词、工作流、评分等多维数据指标</a:t>
            </a:r>
            <a:endParaRPr lang="en-US" sz="1200" dirty="0"/>
          </a:p>
          <a:p>
            <a:endParaRPr lang="en-US" altLang="en-US" sz="1200" dirty="0"/>
          </a:p>
        </p:txBody>
      </p:sp>
      <p:sp>
        <p:nvSpPr>
          <p:cNvPr id="36" name="文本框 35"/>
          <p:cNvSpPr txBox="1"/>
          <p:nvPr/>
        </p:nvSpPr>
        <p:spPr>
          <a:xfrm>
            <a:off x="677545" y="1996440"/>
            <a:ext cx="38207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003A8C"/>
                </a:solidFill>
                <a:latin typeface="华文宋体" panose="02010600040101010101" charset="-122"/>
                <a:ea typeface="华文宋体" panose="02010600040101010101" charset="-122"/>
                <a:cs typeface="微软雅黑" panose="020B0503020204020204" pitchFamily="34" charset="-120"/>
                <a:sym typeface="+mn-ea"/>
              </a:rPr>
              <a:t>数据闭环业务链路</a:t>
            </a:r>
            <a:endParaRPr lang="en-US" altLang="en-US" sz="2800" b="1" dirty="0">
              <a:solidFill>
                <a:srgbClr val="003A8C"/>
              </a:solidFill>
              <a:latin typeface="华文宋体" panose="02010600040101010101" charset="-122"/>
              <a:ea typeface="华文宋体" panose="02010600040101010101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24840" y="2491740"/>
            <a:ext cx="48964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从用户操作到后台统计，形成持续优化的流程资产</a:t>
            </a:r>
            <a:endParaRPr lang="en-US" altLang="en-US" sz="1600" dirty="0"/>
          </a:p>
        </p:txBody>
      </p:sp>
      <p:sp>
        <p:nvSpPr>
          <p:cNvPr id="38" name="文本框 37"/>
          <p:cNvSpPr txBox="1"/>
          <p:nvPr/>
        </p:nvSpPr>
        <p:spPr>
          <a:xfrm>
            <a:off x="395605" y="1145540"/>
            <a:ext cx="58877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solidFill>
                  <a:srgbClr val="003A8C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0"/>
                <a:sym typeface="+mn-ea"/>
              </a:rPr>
              <a:t>全过程数据闭环与平台支撑架构</a:t>
            </a:r>
            <a:endParaRPr lang="en-US" altLang="en-US" sz="3200" b="1" dirty="0">
              <a:solidFill>
                <a:srgbClr val="003A8C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283325" y="1195705"/>
            <a:ext cx="5378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rgbClr val="5A7BA0"/>
                </a:solidFill>
                <a:latin typeface="Calibri (正文)" charset="0"/>
                <a:ea typeface="Calibri (正文)" charset="0"/>
                <a:sym typeface="+mn-ea"/>
              </a:rPr>
              <a:t>围绕用户、工作流、提示词、工具、案例和行为日志建立后端数据体系，实现设计过程可追溯、可复盘、可优化</a:t>
            </a:r>
            <a:endParaRPr lang="zh-CN" altLang="en-US" sz="1600" b="1" dirty="0">
              <a:solidFill>
                <a:srgbClr val="5A7BA0"/>
              </a:solidFill>
              <a:latin typeface="Calibri (正文)" charset="0"/>
              <a:ea typeface="Calibri (正文)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64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65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66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67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68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69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70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71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72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ags/tag73.xml><?xml version="1.0" encoding="utf-8"?>
<p:tagLst xmlns:p="http://schemas.openxmlformats.org/presentationml/2006/main">
  <p:tag name="KSO_WM_DIAGRAM_VIRTUALLY_FRAME" val="{&quot;height&quot;:407.55,&quot;left&quot;:11.65,&quot;top&quot;:69,&quot;width&quot;:546.1661417322834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1263</Words>
  <Application>WPS 演示</Application>
  <PresentationFormat>宽屏</PresentationFormat>
  <Paragraphs>192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Arial</vt:lpstr>
      <vt:lpstr>微软雅黑</vt:lpstr>
      <vt:lpstr>Calibri (正文)</vt:lpstr>
      <vt:lpstr>Calibri</vt:lpstr>
      <vt:lpstr>微软雅黑 (正文)</vt:lpstr>
      <vt:lpstr>新宋体</vt:lpstr>
      <vt:lpstr>华文中宋</vt:lpstr>
      <vt:lpstr>微软雅黑</vt:lpstr>
      <vt:lpstr>华文宋体</vt:lpstr>
      <vt:lpstr>Arial Unicode MS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WPS_1694261494</cp:lastModifiedBy>
  <cp:revision>167</cp:revision>
  <dcterms:created xsi:type="dcterms:W3CDTF">2019-06-19T02:08:00Z</dcterms:created>
  <dcterms:modified xsi:type="dcterms:W3CDTF">2026-04-27T13:42:40Z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F351D2A4BEB542C38AD446D54825EB4E_13</vt:lpwstr>
  </property>
</Properties>
</file>